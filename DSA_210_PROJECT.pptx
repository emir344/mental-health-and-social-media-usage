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58" r:id="rId7"/>
    <p:sldId id="264" r:id="rId8"/>
    <p:sldId id="291" r:id="rId9"/>
    <p:sldId id="268" r:id="rId10"/>
    <p:sldId id="286" r:id="rId11"/>
    <p:sldId id="262" r:id="rId12"/>
    <p:sldId id="292" r:id="rId13"/>
    <p:sldId id="279" r:id="rId14"/>
    <p:sldId id="293" r:id="rId15"/>
    <p:sldId id="294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429EF-81B4-47D0-A452-0FE9CD96C8E0}" v="10" dt="2026-01-08T23:20:11.70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3204" autoAdjust="0"/>
  </p:normalViewPr>
  <p:slideViewPr>
    <p:cSldViewPr snapToGrid="0">
      <p:cViewPr varScale="1">
        <p:scale>
          <a:sx n="72" d="100"/>
          <a:sy n="72" d="100"/>
        </p:scale>
        <p:origin x="926" y="55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t arslan" userId="6e3e0393cd0a384b" providerId="LiveId" clId="{505739F4-C90D-4800-8B05-AFB9EF77653B}"/>
    <pc:docChg chg="undo custSel modSld">
      <pc:chgData name="ahmet arslan" userId="6e3e0393cd0a384b" providerId="LiveId" clId="{505739F4-C90D-4800-8B05-AFB9EF77653B}" dt="2026-01-09T00:06:41.029" v="264" actId="20577"/>
      <pc:docMkLst>
        <pc:docMk/>
      </pc:docMkLst>
      <pc:sldChg chg="addSp delSp modSp mod">
        <pc:chgData name="ahmet arslan" userId="6e3e0393cd0a384b" providerId="LiveId" clId="{505739F4-C90D-4800-8B05-AFB9EF77653B}" dt="2026-01-08T23:20:14.424" v="133" actId="1076"/>
        <pc:sldMkLst>
          <pc:docMk/>
          <pc:sldMk cId="707789176" sldId="258"/>
        </pc:sldMkLst>
        <pc:spChg chg="mod">
          <ac:chgData name="ahmet arslan" userId="6e3e0393cd0a384b" providerId="LiveId" clId="{505739F4-C90D-4800-8B05-AFB9EF77653B}" dt="2026-01-08T23:20:14.424" v="133" actId="1076"/>
          <ac:spMkLst>
            <pc:docMk/>
            <pc:sldMk cId="707789176" sldId="258"/>
            <ac:spMk id="2" creationId="{A29DE7F2-E890-4744-88DD-A75F5E300513}"/>
          </ac:spMkLst>
        </pc:spChg>
        <pc:spChg chg="mod">
          <ac:chgData name="ahmet arslan" userId="6e3e0393cd0a384b" providerId="LiveId" clId="{505739F4-C90D-4800-8B05-AFB9EF77653B}" dt="2026-01-08T23:20:11.706" v="132" actId="1076"/>
          <ac:spMkLst>
            <pc:docMk/>
            <pc:sldMk cId="707789176" sldId="258"/>
            <ac:spMk id="6" creationId="{8B8D5B0C-06A3-E83B-DE07-E22E11A377AE}"/>
          </ac:spMkLst>
        </pc:spChg>
        <pc:spChg chg="add del mod">
          <ac:chgData name="ahmet arslan" userId="6e3e0393cd0a384b" providerId="LiveId" clId="{505739F4-C90D-4800-8B05-AFB9EF77653B}" dt="2026-01-08T23:19:30.045" v="130" actId="478"/>
          <ac:spMkLst>
            <pc:docMk/>
            <pc:sldMk cId="707789176" sldId="258"/>
            <ac:spMk id="8" creationId="{B81EE5E3-B0C1-D179-E1D1-5B706883339D}"/>
          </ac:spMkLst>
        </pc:spChg>
        <pc:picChg chg="del">
          <ac:chgData name="ahmet arslan" userId="6e3e0393cd0a384b" providerId="LiveId" clId="{505739F4-C90D-4800-8B05-AFB9EF77653B}" dt="2026-01-08T23:18:22.672" v="123" actId="478"/>
          <ac:picMkLst>
            <pc:docMk/>
            <pc:sldMk cId="707789176" sldId="258"/>
            <ac:picMk id="34" creationId="{9289CE93-EC50-55DB-CFE0-1266AEC87B19}"/>
          </ac:picMkLst>
        </pc:picChg>
        <pc:picChg chg="add mod">
          <ac:chgData name="ahmet arslan" userId="6e3e0393cd0a384b" providerId="LiveId" clId="{505739F4-C90D-4800-8B05-AFB9EF77653B}" dt="2026-01-08T23:19:37.073" v="131" actId="1076"/>
          <ac:picMkLst>
            <pc:docMk/>
            <pc:sldMk cId="707789176" sldId="258"/>
            <ac:picMk id="2051" creationId="{663F9D9B-286B-DCA7-B4CF-478FDE18E318}"/>
          </ac:picMkLst>
        </pc:picChg>
      </pc:sldChg>
      <pc:sldChg chg="modSp mod">
        <pc:chgData name="ahmet arslan" userId="6e3e0393cd0a384b" providerId="LiveId" clId="{505739F4-C90D-4800-8B05-AFB9EF77653B}" dt="2026-01-08T23:07:45.639" v="30" actId="20577"/>
        <pc:sldMkLst>
          <pc:docMk/>
          <pc:sldMk cId="1593920805" sldId="262"/>
        </pc:sldMkLst>
        <pc:spChg chg="mod">
          <ac:chgData name="ahmet arslan" userId="6e3e0393cd0a384b" providerId="LiveId" clId="{505739F4-C90D-4800-8B05-AFB9EF77653B}" dt="2026-01-08T23:07:45.639" v="30" actId="20577"/>
          <ac:spMkLst>
            <pc:docMk/>
            <pc:sldMk cId="1593920805" sldId="262"/>
            <ac:spMk id="8" creationId="{87441910-6501-5C60-C05A-BAFF34C25798}"/>
          </ac:spMkLst>
        </pc:spChg>
      </pc:sldChg>
      <pc:sldChg chg="modSp mod">
        <pc:chgData name="ahmet arslan" userId="6e3e0393cd0a384b" providerId="LiveId" clId="{505739F4-C90D-4800-8B05-AFB9EF77653B}" dt="2026-01-08T23:07:05.838" v="20" actId="115"/>
        <pc:sldMkLst>
          <pc:docMk/>
          <pc:sldMk cId="2243494996" sldId="277"/>
        </pc:sldMkLst>
        <pc:spChg chg="mod">
          <ac:chgData name="ahmet arslan" userId="6e3e0393cd0a384b" providerId="LiveId" clId="{505739F4-C90D-4800-8B05-AFB9EF77653B}" dt="2026-01-08T23:07:05.838" v="20" actId="115"/>
          <ac:spMkLst>
            <pc:docMk/>
            <pc:sldMk cId="2243494996" sldId="277"/>
            <ac:spMk id="3" creationId="{35E3EA69-4E0E-41BD-8095-A124225A2647}"/>
          </ac:spMkLst>
        </pc:spChg>
      </pc:sldChg>
      <pc:sldChg chg="modSp mod">
        <pc:chgData name="ahmet arslan" userId="6e3e0393cd0a384b" providerId="LiveId" clId="{505739F4-C90D-4800-8B05-AFB9EF77653B}" dt="2026-01-09T00:05:24.007" v="182" actId="20577"/>
        <pc:sldMkLst>
          <pc:docMk/>
          <pc:sldMk cId="4252466045" sldId="279"/>
        </pc:sldMkLst>
        <pc:spChg chg="mod">
          <ac:chgData name="ahmet arslan" userId="6e3e0393cd0a384b" providerId="LiveId" clId="{505739F4-C90D-4800-8B05-AFB9EF77653B}" dt="2026-01-09T00:05:24.007" v="182" actId="20577"/>
          <ac:spMkLst>
            <pc:docMk/>
            <pc:sldMk cId="4252466045" sldId="279"/>
            <ac:spMk id="7" creationId="{3FF2D739-E475-54F8-C832-F04A983D0F24}"/>
          </ac:spMkLst>
        </pc:spChg>
      </pc:sldChg>
      <pc:sldChg chg="addSp">
        <pc:chgData name="ahmet arslan" userId="6e3e0393cd0a384b" providerId="LiveId" clId="{505739F4-C90D-4800-8B05-AFB9EF77653B}" dt="2026-01-08T23:17:39.821" v="122"/>
        <pc:sldMkLst>
          <pc:docMk/>
          <pc:sldMk cId="3003251909" sldId="291"/>
        </pc:sldMkLst>
        <pc:spChg chg="add">
          <ac:chgData name="ahmet arslan" userId="6e3e0393cd0a384b" providerId="LiveId" clId="{505739F4-C90D-4800-8B05-AFB9EF77653B}" dt="2026-01-08T23:17:39.821" v="122"/>
          <ac:spMkLst>
            <pc:docMk/>
            <pc:sldMk cId="3003251909" sldId="291"/>
            <ac:spMk id="7" creationId="{E9EB135D-39AD-1302-AC5E-A90D3A452E5F}"/>
          </ac:spMkLst>
        </pc:spChg>
      </pc:sldChg>
      <pc:sldChg chg="modSp mod">
        <pc:chgData name="ahmet arslan" userId="6e3e0393cd0a384b" providerId="LiveId" clId="{505739F4-C90D-4800-8B05-AFB9EF77653B}" dt="2026-01-08T23:08:36.788" v="58" actId="20577"/>
        <pc:sldMkLst>
          <pc:docMk/>
          <pc:sldMk cId="2390678392" sldId="292"/>
        </pc:sldMkLst>
        <pc:spChg chg="mod">
          <ac:chgData name="ahmet arslan" userId="6e3e0393cd0a384b" providerId="LiveId" clId="{505739F4-C90D-4800-8B05-AFB9EF77653B}" dt="2026-01-08T23:08:36.788" v="58" actId="20577"/>
          <ac:spMkLst>
            <pc:docMk/>
            <pc:sldMk cId="2390678392" sldId="292"/>
            <ac:spMk id="6" creationId="{3A7E69BA-FC91-08A5-671F-B53E6E989C6F}"/>
          </ac:spMkLst>
        </pc:spChg>
      </pc:sldChg>
      <pc:sldChg chg="modSp mod">
        <pc:chgData name="ahmet arslan" userId="6e3e0393cd0a384b" providerId="LiveId" clId="{505739F4-C90D-4800-8B05-AFB9EF77653B}" dt="2026-01-09T00:06:41.029" v="264" actId="20577"/>
        <pc:sldMkLst>
          <pc:docMk/>
          <pc:sldMk cId="1073624839" sldId="293"/>
        </pc:sldMkLst>
        <pc:spChg chg="mod">
          <ac:chgData name="ahmet arslan" userId="6e3e0393cd0a384b" providerId="LiveId" clId="{505739F4-C90D-4800-8B05-AFB9EF77653B}" dt="2026-01-09T00:06:41.029" v="264" actId="20577"/>
          <ac:spMkLst>
            <pc:docMk/>
            <pc:sldMk cId="1073624839" sldId="293"/>
            <ac:spMk id="6" creationId="{DF00FCE7-BC55-207D-00A3-6A8D4EDC493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9C6A-C123-A4C8-F00E-E96934F7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56424-A79D-2F79-D05B-F9C14AD01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ADE54-ED2F-E2E1-4B77-B327C8774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2D9DE-F3B3-5406-49FE-2A4A0AB65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93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8A4E-CD19-5921-CBD9-7E73254C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1316C-A299-C94F-AD5F-065CFCEF1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1125B-81A4-DB96-3FBA-B795A1666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BE1E-91A7-C3CC-975A-D3903EBA6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ndcap.com/report/it19/#view/4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ourworldindata.org/grapher/daily-hours-spent-with-digital-media-per-adult-user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0" y="1034179"/>
            <a:ext cx="8388477" cy="274217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Relationship Between Mental Health and Digital Media Usage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80502F-5CED-6771-B802-6183ABA57C61}"/>
              </a:ext>
            </a:extLst>
          </p:cNvPr>
          <p:cNvSpPr txBox="1">
            <a:spLocks/>
          </p:cNvSpPr>
          <p:nvPr/>
        </p:nvSpPr>
        <p:spPr>
          <a:xfrm>
            <a:off x="6379748" y="3906982"/>
            <a:ext cx="4854308" cy="224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Sami emir arslan</a:t>
            </a:r>
          </a:p>
          <a:p>
            <a:endParaRPr lang="en-US" sz="3200" dirty="0"/>
          </a:p>
          <a:p>
            <a:r>
              <a:rPr lang="en-US" sz="3200" dirty="0"/>
              <a:t>32072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931" y="231526"/>
            <a:ext cx="6848104" cy="930810"/>
          </a:xfrm>
        </p:spPr>
        <p:txBody>
          <a:bodyPr>
            <a:normAutofit/>
          </a:bodyPr>
          <a:lstStyle/>
          <a:p>
            <a:r>
              <a:rPr lang="en-ZA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42458" y="1168316"/>
            <a:ext cx="7787245" cy="5547179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-Digital media usage has increased rapidly over the last decade</a:t>
            </a:r>
          </a:p>
          <a:p>
            <a:r>
              <a:rPr lang="en-US" sz="2800" b="1" dirty="0"/>
              <a:t>-Mental health disorders are an amplifying public concern</a:t>
            </a:r>
          </a:p>
          <a:p>
            <a:r>
              <a:rPr lang="en-US" sz="2800" b="1" dirty="0"/>
              <a:t>-We are trying to find an answer to that specific question:</a:t>
            </a:r>
          </a:p>
          <a:p>
            <a:r>
              <a:rPr lang="en-US" sz="2800" b="1" u="sng" dirty="0"/>
              <a:t>- Is there any correlation between digital media usage and mental health trends?</a:t>
            </a:r>
          </a:p>
          <a:p>
            <a:r>
              <a:rPr lang="en-US" sz="2800" b="1" dirty="0"/>
              <a:t>-Our goal is to analyze trends using data science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0786" y="1314736"/>
            <a:ext cx="7267507" cy="895310"/>
          </a:xfrm>
        </p:spPr>
        <p:txBody>
          <a:bodyPr>
            <a:normAutofit/>
          </a:bodyPr>
          <a:lstStyle/>
          <a:p>
            <a:r>
              <a:rPr lang="en-US" dirty="0"/>
              <a:t>MY DATA SOURCES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020A02B-66AA-4DFA-7808-200B45B4DAF0}"/>
              </a:ext>
            </a:extLst>
          </p:cNvPr>
          <p:cNvSpPr txBox="1">
            <a:spLocks/>
          </p:cNvSpPr>
          <p:nvPr/>
        </p:nvSpPr>
        <p:spPr>
          <a:xfrm>
            <a:off x="4756753" y="2006929"/>
            <a:ext cx="7267508" cy="4417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Z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515BCD-B7D5-4691-28DA-0F1DC6CEEFAF}"/>
              </a:ext>
            </a:extLst>
          </p:cNvPr>
          <p:cNvSpPr txBox="1">
            <a:spLocks/>
          </p:cNvSpPr>
          <p:nvPr/>
        </p:nvSpPr>
        <p:spPr>
          <a:xfrm>
            <a:off x="1482931" y="231526"/>
            <a:ext cx="6848104" cy="930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Z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70ECD0-6FB7-8803-77C9-31AE997930EB}"/>
              </a:ext>
            </a:extLst>
          </p:cNvPr>
          <p:cNvSpPr txBox="1">
            <a:spLocks/>
          </p:cNvSpPr>
          <p:nvPr/>
        </p:nvSpPr>
        <p:spPr>
          <a:xfrm>
            <a:off x="1635331" y="383926"/>
            <a:ext cx="6848104" cy="930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Z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8D5B0C-06A3-E83B-DE07-E22E11A37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951" y="3240501"/>
            <a:ext cx="792416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Mental Health Data: Our World in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Anxiety, Depression, Bipolar Disorder, Schizophrenia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Digital Media Usage Data: Our World in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Internet Use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Time Interval: (2008-2017)</a:t>
            </a:r>
          </a:p>
        </p:txBody>
      </p:sp>
      <p:pic>
        <p:nvPicPr>
          <p:cNvPr id="2051" name="Picture 3" descr="Americans Check Their Phones an Alarming Number of Times Per Day | PCMag">
            <a:extLst>
              <a:ext uri="{FF2B5EF4-FFF2-40B4-BE49-F238E27FC236}">
                <a16:creationId xmlns:a16="http://schemas.microsoft.com/office/drawing/2014/main" id="{663F9D9B-286B-DCA7-B4CF-478FDE18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" y="2798463"/>
            <a:ext cx="4159592" cy="311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How I prepared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-Filtered the data by year and country (USA)</a:t>
            </a:r>
          </a:p>
          <a:p>
            <a:r>
              <a:rPr lang="en-US" sz="2400" b="1" dirty="0"/>
              <a:t>-Collected digital media usage across devices</a:t>
            </a:r>
          </a:p>
          <a:p>
            <a:r>
              <a:rPr lang="en-US" sz="2400" b="1" dirty="0"/>
              <a:t>-Managed missing values</a:t>
            </a:r>
          </a:p>
          <a:p>
            <a:r>
              <a:rPr lang="en-US" sz="2400" b="1" dirty="0"/>
              <a:t>-Make certain that convenient interpretation of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7626" y="507404"/>
            <a:ext cx="5237018" cy="154305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Exploratory </a:t>
            </a:r>
            <a:r>
              <a:rPr lang="en-US" dirty="0" err="1"/>
              <a:t>Analysıs</a:t>
            </a:r>
            <a:r>
              <a:rPr lang="en-US" dirty="0"/>
              <a:t> (</a:t>
            </a:r>
            <a:r>
              <a:rPr lang="en-US" dirty="0" err="1"/>
              <a:t>eda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601" y="2376800"/>
            <a:ext cx="5629399" cy="3347106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-Digital media usage increased frequently over time</a:t>
            </a:r>
          </a:p>
          <a:p>
            <a:r>
              <a:rPr lang="en-US" sz="2600" b="1" dirty="0"/>
              <a:t>-Mental Health trends vary across disorders</a:t>
            </a:r>
          </a:p>
          <a:p>
            <a:r>
              <a:rPr lang="en-US" sz="2600" b="1" dirty="0"/>
              <a:t>-Used bar-plots to avoid deceiving trends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06" y="1045029"/>
            <a:ext cx="4928259" cy="1223158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Standardized    trends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90006" y="2553194"/>
            <a:ext cx="5096764" cy="3542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/>
              <a:t>-Used Z scores to standardize mental health variables</a:t>
            </a:r>
          </a:p>
          <a:p>
            <a:endParaRPr lang="en-US" sz="2400" b="1" dirty="0"/>
          </a:p>
          <a:p>
            <a:r>
              <a:rPr lang="en-US" sz="2400" b="1" dirty="0"/>
              <a:t>-Makes it possible to compare relative changes over time</a:t>
            </a:r>
          </a:p>
          <a:p>
            <a:endParaRPr lang="en-US" sz="2400" b="1" dirty="0"/>
          </a:p>
          <a:p>
            <a:r>
              <a:rPr lang="en-US" sz="2400" b="1" dirty="0"/>
              <a:t>- Showed distinctive patterns across mental disorders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51ED05-F0DB-18CA-4423-9B2B17F0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86" y="348831"/>
            <a:ext cx="5888248" cy="637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8" y="522514"/>
            <a:ext cx="5179891" cy="1736054"/>
          </a:xfrm>
        </p:spPr>
        <p:txBody>
          <a:bodyPr anchor="t">
            <a:normAutofit/>
          </a:bodyPr>
          <a:lstStyle/>
          <a:p>
            <a:pPr algn="ctr"/>
            <a:r>
              <a:rPr lang="en-US" dirty="0" err="1"/>
              <a:t>Statıstıcal</a:t>
            </a:r>
            <a:r>
              <a:rPr lang="en-US" dirty="0"/>
              <a:t> analysis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DF375F7-75C8-9DB6-8264-128BD2DB394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/>
          <a:p>
            <a:r>
              <a:rPr lang="en-US" sz="2400" b="1" dirty="0"/>
              <a:t>-Used Spearman Correlation Analysis</a:t>
            </a:r>
          </a:p>
          <a:p>
            <a:endParaRPr lang="en-US" sz="2400" b="1" dirty="0"/>
          </a:p>
          <a:p>
            <a:r>
              <a:rPr lang="en-US" sz="2400" b="1" dirty="0"/>
              <a:t>-Used hypothesis testing to see the relationships significance</a:t>
            </a:r>
          </a:p>
          <a:p>
            <a:r>
              <a:rPr lang="en-US" sz="2400" b="1" dirty="0"/>
              <a:t>-The result is digital media usage shows important association with depression trends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D2F8030-5DB9-DBC8-858D-D0080CED801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6156551" y="1056904"/>
            <a:ext cx="5022867" cy="50390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pPr algn="ctr"/>
            <a:r>
              <a:rPr lang="en-US" dirty="0"/>
              <a:t>MACHINE LEARNING (ML)</a:t>
            </a:r>
            <a:br>
              <a:rPr lang="en-US" dirty="0"/>
            </a:br>
            <a:r>
              <a:rPr lang="en-US" dirty="0"/>
              <a:t>METHODS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099460" y="2375065"/>
            <a:ext cx="8894617" cy="4346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</a:t>
            </a:r>
            <a:r>
              <a:rPr lang="en-US" sz="2000" b="1" dirty="0"/>
              <a:t>Used: Linear Regression, Ridge Regression, Lasso Regression</a:t>
            </a:r>
          </a:p>
          <a:p>
            <a:pPr marL="0" indent="0">
              <a:buNone/>
            </a:pPr>
            <a:r>
              <a:rPr lang="en-US" sz="2000" b="1" dirty="0"/>
              <a:t>-Used Leave-One-Out Cross Validation to evaluate the results and my metric was RMSE</a:t>
            </a:r>
          </a:p>
          <a:p>
            <a:pPr marL="0" indent="0">
              <a:buNone/>
            </a:pPr>
            <a:r>
              <a:rPr lang="en-US" sz="2000" b="1" dirty="0"/>
              <a:t>Those are my results:</a:t>
            </a:r>
          </a:p>
          <a:p>
            <a:pPr marL="0" indent="0">
              <a:buNone/>
            </a:pPr>
            <a:r>
              <a:rPr lang="en-US" sz="2000" b="1" dirty="0"/>
              <a:t>Digital media usage and time can be used to forecast depression prevalence trends, and the ridge regression shows the most correct results.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DA389-0130-57C5-C1F9-0F8C005B7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146" y="4679356"/>
            <a:ext cx="4184185" cy="16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10" y="380010"/>
            <a:ext cx="3845626" cy="867888"/>
          </a:xfrm>
        </p:spPr>
        <p:txBody>
          <a:bodyPr/>
          <a:lstStyle/>
          <a:p>
            <a:r>
              <a:rPr lang="en-US" dirty="0"/>
              <a:t>My 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0110" y="1140031"/>
            <a:ext cx="4860204" cy="5014707"/>
          </a:xfrm>
        </p:spPr>
        <p:txBody>
          <a:bodyPr/>
          <a:lstStyle/>
          <a:p>
            <a:r>
              <a:rPr lang="en-US" dirty="0"/>
              <a:t>Digital media usage increased over time</a:t>
            </a:r>
          </a:p>
          <a:p>
            <a:r>
              <a:rPr lang="en-US" dirty="0"/>
              <a:t>Depression and bipolar disorder have upwards trends</a:t>
            </a:r>
          </a:p>
          <a:p>
            <a:r>
              <a:rPr lang="en-US" dirty="0"/>
              <a:t>Simple regression models perform well</a:t>
            </a:r>
          </a:p>
          <a:p>
            <a:r>
              <a:rPr lang="en-US" dirty="0"/>
              <a:t>Relationship is predictive but not casual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3AACDA-28BB-7643-47C7-CB0FB6E92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805" y="0"/>
            <a:ext cx="5153849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83BB4F-9A5D-F7F8-4BEC-C7755F6BF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524" y="3429000"/>
            <a:ext cx="5192130" cy="3352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1F9DEA-45AA-7BD8-0EA1-441DCB3CA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91" y="3200808"/>
            <a:ext cx="5351133" cy="358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629593" y="1730615"/>
            <a:ext cx="6217227" cy="4572395"/>
          </a:xfrm>
        </p:spPr>
        <p:txBody>
          <a:bodyPr>
            <a:normAutofit/>
          </a:bodyPr>
          <a:lstStyle/>
          <a:p>
            <a:r>
              <a:rPr lang="en-US" sz="2400" b="1" dirty="0"/>
              <a:t>Limitations:</a:t>
            </a:r>
          </a:p>
          <a:p>
            <a:r>
              <a:rPr lang="en-US" sz="2400" b="1" dirty="0"/>
              <a:t>Sample size could be bigger</a:t>
            </a:r>
          </a:p>
          <a:p>
            <a:r>
              <a:rPr lang="en-US" sz="2400" b="1" dirty="0"/>
              <a:t>No causal inference can be made</a:t>
            </a:r>
          </a:p>
          <a:p>
            <a:r>
              <a:rPr lang="en-US" sz="2400" b="1" dirty="0"/>
              <a:t>Future:</a:t>
            </a:r>
          </a:p>
          <a:p>
            <a:r>
              <a:rPr lang="en-US" sz="2400" b="1" dirty="0"/>
              <a:t>-If more reliable and advanced data is available to use:</a:t>
            </a:r>
          </a:p>
          <a:p>
            <a:r>
              <a:rPr lang="en-US" sz="2400" b="1" dirty="0"/>
              <a:t> -It is possible to use more countries and include more variables.</a:t>
            </a:r>
          </a:p>
          <a:p>
            <a:r>
              <a:rPr lang="en-US" sz="2400" b="1" dirty="0"/>
              <a:t>-Getting effective results -&gt; more improved models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D05C-7DE0-D5E8-956D-075B3363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A3701-9CA1-32D5-6038-BA374E13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06" y="1045029"/>
            <a:ext cx="4928259" cy="1223158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0673A-215C-1BC2-A22C-76590CAE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0FCE7-BC55-207D-00A3-6A8D4EDC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90006" y="2553194"/>
            <a:ext cx="5096764" cy="3542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/>
              <a:t>-The consume of digital media could be linked with trends in mental health.</a:t>
            </a:r>
          </a:p>
          <a:p>
            <a:endParaRPr lang="en-US" sz="2400" b="1" dirty="0"/>
          </a:p>
          <a:p>
            <a:r>
              <a:rPr lang="en-US" sz="2400" b="1" dirty="0"/>
              <a:t>-Depression prevalence can be accurately predicted by machine learning models.</a:t>
            </a:r>
          </a:p>
          <a:p>
            <a:endParaRPr lang="en-US" sz="2400" b="1" dirty="0"/>
          </a:p>
          <a:p>
            <a:r>
              <a:rPr lang="en-US" sz="2400" b="1" dirty="0"/>
              <a:t>-My work shows how we can practically use data in real world to make implications.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E8B6F-811F-0FF3-C2F0-88B7E72AE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31" y="1"/>
            <a:ext cx="6983276" cy="3645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7D91FA-47FD-661C-E28C-EB2938E79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731" y="3737047"/>
            <a:ext cx="6983276" cy="312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24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E570-9960-F955-631E-C47F40D2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3988-EC03-A961-D622-C7CB076B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" y="219219"/>
            <a:ext cx="6597650" cy="908937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4B6F3-352F-2233-885E-E2E06A0BDA5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1128156"/>
            <a:ext cx="6597650" cy="5226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IHME, Global Burden of Disease (2024) – with major processing by Our World in Data</a:t>
            </a:r>
          </a:p>
          <a:p>
            <a:endParaRPr lang="en-US" sz="2400" b="1" dirty="0"/>
          </a:p>
          <a:p>
            <a:r>
              <a:rPr lang="en-US" sz="2400" b="1" dirty="0"/>
              <a:t>BOND Internet Trends (2019) – processed by Our World in Data</a:t>
            </a:r>
          </a:p>
          <a:p>
            <a:endParaRPr lang="en-US" sz="2400" b="1" dirty="0"/>
          </a:p>
          <a:p>
            <a:r>
              <a:rPr lang="en-US" sz="2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https://www.bondcap.com/report/it19/#view/41</a:t>
            </a:r>
            <a:endParaRPr lang="en-US" sz="2400" b="1" dirty="0"/>
          </a:p>
          <a:p>
            <a:r>
              <a:rPr lang="en-US" sz="2400" b="1" dirty="0"/>
              <a:t> </a:t>
            </a:r>
            <a:r>
              <a:rPr lang="en-US" sz="2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https://ourworldindata.org/grapher/daily-hours-spent-with-digital-media-per-adult-user</a:t>
            </a:r>
            <a:endParaRPr lang="en-US" sz="2400" b="1" dirty="0"/>
          </a:p>
          <a:p>
            <a:r>
              <a:rPr lang="en-US" sz="2400" b="1" dirty="0"/>
              <a:t>https://ourworldindata.org/mental-health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DDB7-24EC-A869-B9E9-C04ADB29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0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7626" y="496784"/>
            <a:ext cx="5925787" cy="3065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 for your </a:t>
            </a:r>
            <a:r>
              <a:rPr lang="en-US" dirty="0" err="1"/>
              <a:t>tıme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{F4A109D1-A8E5-4CAB-9076-53EAF0FFB829}TF55c86556-70ea-476e-aa05-13a38f2d5b0da1381d77_win32-a3c664429073</Template>
  <TotalTime>563</TotalTime>
  <Words>508</Words>
  <Application>Microsoft Office PowerPoint</Application>
  <PresentationFormat>Widescreen</PresentationFormat>
  <Paragraphs>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Calibri</vt:lpstr>
      <vt:lpstr>Custom</vt:lpstr>
      <vt:lpstr>Relationship Between Mental Health and Digital Media Usage </vt:lpstr>
      <vt:lpstr>MOTIVATION</vt:lpstr>
      <vt:lpstr>MY DATA SOURCES</vt:lpstr>
      <vt:lpstr>How I prepared the data</vt:lpstr>
      <vt:lpstr>Exploratory Analysıs (eda)</vt:lpstr>
      <vt:lpstr>Standardized    trends</vt:lpstr>
      <vt:lpstr>Statıstıcal analysis </vt:lpstr>
      <vt:lpstr>MACHINE LEARNING (ML) METHODS</vt:lpstr>
      <vt:lpstr>My results</vt:lpstr>
      <vt:lpstr>LIMITATIONS AND FUTURE WORK</vt:lpstr>
      <vt:lpstr>CONCLUSION</vt:lpstr>
      <vt:lpstr>References</vt:lpstr>
      <vt:lpstr>THANK YOU for your tıme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arslan</dc:creator>
  <cp:lastModifiedBy>ahmet arslan</cp:lastModifiedBy>
  <cp:revision>1</cp:revision>
  <dcterms:created xsi:type="dcterms:W3CDTF">2026-01-08T14:43:31Z</dcterms:created>
  <dcterms:modified xsi:type="dcterms:W3CDTF">2026-01-09T00:06:44Z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